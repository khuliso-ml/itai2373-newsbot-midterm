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67368D-C14D-46FA-BC24-CED0BE5D7AAF}">
  <a:tblStyle styleId="{1767368D-C14D-46FA-BC24-CED0BE5D7A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2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098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NewsBot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Intelligent</a:t>
            </a: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8135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Automated Text Categorization &amp; Analysis using Random Forest Classification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85569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Machine Learning Pipeline for News Intelligence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780407"/>
            <a:ext cx="95250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312330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570982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Comprehensive Overview of the NLP Pipeline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4333"/>
            <a:ext cx="5286375" cy="1967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64333"/>
            <a:ext cx="5286375" cy="1967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14400" y="3107233"/>
            <a:ext cx="48306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Manual Bottleneck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14400" y="3497758"/>
            <a:ext cx="460057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Categorizing thousands of daily news articles manually is time-consuming and prone to human error, leading to delays in news delivery and poor user experience.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77025" y="3107233"/>
            <a:ext cx="48306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Intelligent Solution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77025" y="3497758"/>
            <a:ext cx="460057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NewsBot system leverages traditional ML to automatically classify articles into Business, Tech, Politics, Sport, and Entertainment with high precision.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Statement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08121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7337" y="2090737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6334125" y="278159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BBC News Dataset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334125" y="3172122"/>
            <a:ext cx="528637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utilizes the gold-standard BBC News dataset, comprising 2,225 articles from 2004-2005. It covers five distinct topical areas, providing a rich ground for training supervised classification models.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334125" y="4063305"/>
            <a:ext cx="52863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Integration via Kaggle API ensures a seamless, reproducible data ingestion process.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Sourcing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952500" y="2792015"/>
            <a:ext cx="10668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NLTK Integration: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Robust processing of natural language using the Natural Language Toolkit.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52500" y="3270051"/>
            <a:ext cx="10668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Normalization: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Case folding and removal of special characters, emojis, and noise.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952500" y="3748087"/>
            <a:ext cx="10668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Tokenization &amp; Filtering: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Removing stop-words and low-frequency terms (count &lt; 3) to reduce dimensionality.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952500" y="4226123"/>
            <a:ext cx="10668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Lemmatization: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Converting words to their base forms to ensure semantic uniformity.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2553890"/>
            <a:ext cx="1047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3031926"/>
            <a:ext cx="1047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3509962"/>
            <a:ext cx="1047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3987998"/>
            <a:ext cx="1047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Text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Preprocessing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0946"/>
            <a:ext cx="3492549" cy="2834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30946"/>
            <a:ext cx="3492549" cy="2834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30946"/>
            <a:ext cx="3492549" cy="2834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2622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866775" y="3340596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TF-IDF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66775" y="3978771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Term Frequency-Inverse Document Frequency weighting highlights unique keywords.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2622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4645074" y="3340596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N-Grams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645074" y="3978771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Utilizing Bigrams and Trigrams to capture contextual phrases like "stock market."</a:t>
            </a:r>
            <a:endParaRPr/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2622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8423374" y="3340596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Sparse Matrix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423374" y="3978771"/>
            <a:ext cx="290199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Optimized data storage for high-dimensional feature vectors.</a:t>
            </a:r>
            <a:endParaRPr/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3937" y="279767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6524" y="27976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09111" y="279767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Engineering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19383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Random Forest Classifier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2328862"/>
            <a:ext cx="52863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Chosen for its ensemble learning capabilities, the Random Forest model provides: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47862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923925" y="2981086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52500" y="2980134"/>
            <a:ext cx="4905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High resistance to over-fitting through bagging.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23925" y="3220997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52500" y="3220045"/>
            <a:ext cx="4905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Ability to handle high-dimensional text data efficiently.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23925" y="3460908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52500" y="3459956"/>
            <a:ext cx="4905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Feature importance tracking for transparency.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809625" y="1987153"/>
            <a:ext cx="49506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Confusion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Matrix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1987153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3006328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 Analysis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3396853"/>
            <a:ext cx="4953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model shows exceptional performance in Sport (67/68 correct) and Business (63/66 correct).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4219575"/>
            <a:ext cx="4953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slight overlap is noted between Tech and Business due to the shared terminology in corporate technology news.</a:t>
            </a:r>
            <a:endParaRPr/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1"/>
          <p:cNvGraphicFramePr/>
          <p:nvPr/>
        </p:nvGraphicFramePr>
        <p:xfrm>
          <a:off x="571500" y="22166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{1767368D-C14D-46FA-BC24-CED0BE5D7AAF}</a:tableStyleId>
              </a:tblPr>
              <a:tblGrid>
                <a:gridCol w="3456975"/>
                <a:gridCol w="2553150"/>
                <a:gridCol w="2824300"/>
                <a:gridCol w="2214550"/>
              </a:tblGrid>
              <a:tr h="61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Correct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1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Business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Entertainment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Politics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1"/>
          <p:cNvSpPr/>
          <p:nvPr/>
        </p:nvSpPr>
        <p:spPr>
          <a:xfrm>
            <a:off x="571500" y="2881461"/>
            <a:ext cx="345697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028479" y="2881461"/>
            <a:ext cx="255314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581626" y="2881461"/>
            <a:ext cx="282431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9405937" y="2881461"/>
            <a:ext cx="2214562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3488084"/>
            <a:ext cx="34569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028479" y="3488084"/>
            <a:ext cx="2553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6581626" y="3488084"/>
            <a:ext cx="28243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9405937" y="3488084"/>
            <a:ext cx="22145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080420"/>
            <a:ext cx="34569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028479" y="4080420"/>
            <a:ext cx="2553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581626" y="4080420"/>
            <a:ext cx="28243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9405937" y="4080420"/>
            <a:ext cx="22145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4672756"/>
            <a:ext cx="34569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028479" y="4672756"/>
            <a:ext cx="2553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581626" y="4672756"/>
            <a:ext cx="28243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9405937" y="4672756"/>
            <a:ext cx="22145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5265092"/>
            <a:ext cx="34569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028479" y="5265092"/>
            <a:ext cx="2553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581626" y="5265092"/>
            <a:ext cx="28243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9405937" y="5265092"/>
            <a:ext cx="22145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Metric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Evaluation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4733032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Final Average Test Accuracy: ~94.5%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Category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Accuracy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571500" y="3884414"/>
            <a:ext cx="11049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507968" y="3122414"/>
            <a:ext cx="26683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Training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4103489"/>
            <a:ext cx="254124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Optimize Random Forest parameters in Colab.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3343888" y="3122414"/>
            <a:ext cx="26683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Serialization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3407419" y="4103489"/>
            <a:ext cx="254124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Export model and TF-IDF vectorizer using Joblib.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179808" y="3122414"/>
            <a:ext cx="26683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FastAPI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243339" y="4103489"/>
            <a:ext cx="254124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Develop REST API for real-time inference.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9015728" y="3122414"/>
            <a:ext cx="26683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Scalability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079259" y="4103489"/>
            <a:ext cx="254124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Deploy via Docker for microservices architecture.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Deployment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Roadmap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1727820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4563740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7399659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0235579" y="38242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295275" y="1956494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</a:t>
            </a:r>
            <a:r>
              <a:rPr b="0" i="0" lang="en-US" sz="7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?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571500" y="3289994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NewsBot Intelligent System Project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71500" y="4006155"/>
            <a:ext cx="1104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github</a:t>
            </a:r>
            <a:r>
              <a:rPr lang="en-US" sz="16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: https://github.com/khuliso-ML/ITAI2373-NewsBot-Midterm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developer@intelligent-systems.com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2512" y="402520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8637" y="4282380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/>
          <p:nvPr/>
        </p:nvSpPr>
        <p:spPr>
          <a:xfrm>
            <a:off x="571500" y="2529929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343257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4230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4230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419457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419457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82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666875" y="2672804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https://photos.peopleimages.com/picture/202303/2811275-head-ai-robot-and-futuristic-3d-in-studio-isolated-on-a-background-or-backdrop.-profile-cyber-and-bot-droid-or-machine-digital-cyborg-or-render-robotic-face-or-artificial-intelligence-generated-fit_400_400.jpg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666875" y="306690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peopleimages.com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75446"/>
            <a:ext cx="857250" cy="87213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666875" y="359643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https://mljar.com/blog/visualize-sklearn-tree/sklearn_plot_regression.png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666875" y="381729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mljar.com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469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666875" y="436795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https://towardsdatascience.com/wp-content/uploads/2024/09/1yq_JxFCjlAyVYIdiIHVtnA.png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666875" y="458881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towardsdatascience.com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809625" y="381000"/>
            <a:ext cx="1135141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571500" y="381000"/>
            <a:ext cx="95250" cy="6381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